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大家好，这是吱一声，一只住在桌面上的 AI 回复搭子。我们想解决一个很小、却每天都会遇到的问题：消息来了，我知道该先回哪条，也知道该怎么开口。接下来用三个真实演示场景，看看鼠鼠如何帮忙。</a:t>
            </a:r>
          </a:p>
          <a:p/>
          <a:p>
            <a:r>
              <a:t>素材依据：报表催办原文及对应回复，均截自 20260927180934。截图均使用已脱敏的副本。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通知系统告诉我们有新消息，却没有帮我们完成后面的判断。哪条先回，如何理解语气，怎样表达得体，往往需要反复思考。尤其当催办、求助和朋友问候混在一起时，写下第一句话就变得很费力。</a:t>
            </a:r>
          </a:p>
          <a:p/>
          <a:p>
            <a:r>
              <a:t>素材依据：项目实现与演示截图。截图均使用已脱敏的副本。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流程只有三步：列表里先看轻重；点开后看原文和解读；再从几种回复里挑一句。三张图来自同一条需求验收消息。点击复制后可以直接打开对应钉钉会话。最终由用户确认和发送，减少从聊天窗口跳去通用聊天工具再跳回来的操作。</a:t>
            </a:r>
          </a:p>
          <a:p/>
          <a:p>
            <a:r>
              <a:t>素材依据：需求验收消息的列表截图 20260927180652，与对应详情和回复截图 20260927180710。截图均使用已脱敏的副本。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条是常见的工作催办：什么时候完成，什么时候可以验收。演示里模型将其判断为较急且重要，但没有把正常的进度确认当成情绪施压。它的价值是帮助我们回到事实和时间安排。生成内容中的具体时间不能照单全收，用户需要核实后再发。</a:t>
            </a:r>
          </a:p>
          <a:p/>
          <a:p>
            <a:r>
              <a:t>素材依据：工作验收演示，截图 20260927180710。截图均使用已脱敏的副本。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条消息把信任和失望绑在任务上。演示中出现了制造愧疚等风险信号，鼠鼠给出的方向是明确需求、验收标准和沟通边界。这里的风险百分比只是这次输出的模型分数，不是统计准确率，更不是给发送者贴标签。解读只作为沟通参考。</a:t>
            </a:r>
          </a:p>
          <a:p/>
          <a:p>
            <a:r>
              <a:t>素材依据：情绪施压演示，截图 20260927180823。截图均使用已脱敏的副本。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条换成朋友的问候。它没有具体事务，鼠鼠不会只给一个机械的收到，而是生成幽默、温和和简洁互动等选项。不同消息对应不同表达方式，这种语气上的帮助是产品的温度所在。关系和动机的解读仍应结合真实背景来看。</a:t>
            </a:r>
          </a:p>
          <a:p/>
          <a:p>
            <a:r>
              <a:t>素材依据：朋友问候演示，截图 20260927181013。截图均使用已脱敏的副本。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与每次手动复制消息、切换工具、补充背景不同，吱一声把辅助判断放到消息处理的入口。它并不是替用户经营关系，而是让人更容易获得一个可修改、可选择的回复起点。所有发送动作仍由用户完成。</a:t>
            </a:r>
          </a:p>
          <a:p/>
          <a:p>
            <a:r>
              <a:t>素材依据：项目实现与演示截图。截图均使用已脱敏的副本。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架构从左往右看：官方 DWS 读取会话和正文，消息进入统一结构，再结合可选的日程待办上下文。第一段是 Jev 或 Laya 的结构化判断；第二段是 LLM 的详细解释和回复生成。两者共享前面的分析结果，最终由 PySide6 悬浮窗呈现。当前日程待办上下文由本地缓存注入，自动同步属于下一步。</a:t>
            </a:r>
          </a:p>
          <a:p/>
          <a:p>
            <a:r>
              <a:t>素材依据：main.py、sources.py、engine.py、analyzers.py、explainer.py、context.py。截图均使用已脱敏的副本。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两张截图是同一条消息的两个阶段。左边已经有风险判断和基础建议，详细解读还在生成中；右边逐步补上了核心解读和应对建议。程序通过后台任务和界面信号更新，避免让整个小窗等待一大段生成。这里展示的是交互机制，不是延迟基准测试。</a:t>
            </a:r>
          </a:p>
          <a:p/>
          <a:p>
            <a:r>
              <a:t>素材依据：同一条消息的两阶段演示，截图 20260927180805 与 20260927180823。截图均使用已脱敏的副本。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我们在 2026 年 9 月 27 日使用应用实际的 Jev 分析和 qwen3.7-flash 解读代码，对三个脱敏场景各重复 20 次，并发为 1。测试主机是 macOS arm64，并非 Intel 机器。共 60 次请求，成功 60 次，失败 0 次。完整分析的中位数为 7.30 s，P90 为 9.25 s，P95 为 9.75 s。P90 和 P95 表示本次成功样本中至少 90% 和 95% 的耗时不超过该值。中位数取排序后的中间值，P90/P95 使用最近秩法 ceil(p×n)。完整分析直接统计每次总耗时，不相加各阶段的分位数。使用 perf_counter 测量函数调用的实际时间，包含网络往返、解析和实际发生的重试；不包含 DWS 消息拉取、工作队列等待和界面绘制。不预热，也不剔除首请求。仅使用固定空日程和待办上下文，场景重复且样本有限，结果不是生产 SLA，也不代表整个桌面交互的端到端等待时间。</a:t>
            </a:r>
          </a:p>
          <a:p/>
          <a:p>
            <a:r>
              <a:t>素材依据：benchmark_latency.py 的实测原始样本与 summary.json。截图均使用已脱敏的副本。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保留三个清楚的边界：第一，用户决定是否发送；第二，模型提供沟通参考，不能通过一条消息替人判断完整关系；第三，不同模型路线对应不同的数据路径。云端推理会收到消息内容。本次公开展示的截图已经做了不可通过移动遮挡层恢复的像素脱敏，但这不是在声称应用已经有自动脱敏能力。</a:t>
            </a:r>
          </a:p>
          <a:p/>
          <a:p>
            <a:r>
              <a:t>素材依据：项目实现与演示截图。截图均使用已脱敏的副本。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黑客松阶段我们已经做出了可以运行的桌面应用，演示覆盖工作推进、情绪施压和朋友问候。Intel 包完成了启动验证，五项界面与数据回归也通过了。与此同时，截图里的会话与未读数口径、缓存上下文和生成承诺仍需要完善。下一步优先补上下文、实时事件和人工标注评测，而不是先承诺一个没有测过的准确率。</a:t>
            </a:r>
          </a:p>
          <a:p/>
          <a:p>
            <a:r>
              <a:t>素材依据：项目实现、前次回归与 Intel 启动验证、用户提供的授权及消息演示截图。截图均使用已脱敏的副本。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吱一声的目标很朴素：让人在收到消息后，少一点犹豫，多一个得体的回复起点。先看轻重，再看语气，最后选一句自己的话。消息慢慢看，鼠鼠陪你回。谢谢，接下来可以现场演示。</a:t>
            </a:r>
          </a:p>
          <a:p/>
          <a:p>
            <a:r>
              <a:t>素材依据：项目实现与演示截图。截图均使用已脱敏的副本。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6" Type="http://schemas.openxmlformats.org/officeDocument/2006/relationships/hyperlink" Target="mailto:joeyj6295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4.png"/><Relationship Id="rId5" Type="http://schemas.openxmlformats.org/officeDocument/2006/relationships/hyperlink" Target="mailto:joeyj6295@gmail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76072"/>
            <a:ext cx="1920240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630936"/>
            <a:ext cx="1773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HACKATHON 2026</a:t>
            </a:r>
          </a:p>
        </p:txBody>
      </p:sp>
      <p:pic>
        <p:nvPicPr>
          <p:cNvPr id="7" name="Picture 6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234440"/>
            <a:ext cx="932688" cy="932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" y="2395728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5600" b="1">
                <a:solidFill>
                  <a:srgbClr val="40342D"/>
                </a:solidFill>
                <a:latin typeface="PingFang SC"/>
                <a:ea typeface="PingFang SC"/>
              </a:rPr>
              <a:t>吱一声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5760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消息慢慢看，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鼠鼠陪你回。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75504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82705E"/>
                </a:solidFill>
                <a:latin typeface="PingFang SC"/>
                <a:ea typeface="PingFang SC"/>
              </a:rPr>
              <a:t>面向钉钉的桌面 AI 回复搭子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170432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769864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懂轻重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5715000"/>
            <a:ext cx="1170432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5769864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识语气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715000"/>
            <a:ext cx="1170432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5769864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帮接话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731520"/>
            <a:ext cx="4818888" cy="544982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10058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40342D"/>
                </a:solidFill>
                <a:latin typeface="PingFang SC"/>
                <a:ea typeface="PingFang SC"/>
              </a:rPr>
              <a:t>从一条消息，到一句得体回复</a:t>
            </a:r>
          </a:p>
        </p:txBody>
      </p:sp>
      <p:pic>
        <p:nvPicPr>
          <p:cNvPr id="19" name="Picture 18" descr="report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1783080"/>
            <a:ext cx="4361688" cy="6918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04304" y="2999232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945D3C"/>
                </a:solidFill>
                <a:latin typeface="PingFang SC"/>
                <a:ea typeface="PingFang SC"/>
              </a:rPr>
              <a:t>先看清事情，再选择怎么说。</a:t>
            </a:r>
          </a:p>
        </p:txBody>
      </p:sp>
      <p:pic>
        <p:nvPicPr>
          <p:cNvPr id="21" name="Picture 20" descr="report_rep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730752"/>
            <a:ext cx="4370832" cy="17287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22592" y="5733288"/>
            <a:ext cx="4069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PingFang SC"/>
                <a:ea typeface="PingFang SC"/>
              </a:rPr>
              <a:t>同一条消息的原文与回复 · 姓名已脱敏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" y="1380744"/>
            <a:ext cx="4297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40342D"/>
                </a:solidFill>
                <a:latin typeface="Avenir Next"/>
              </a:rPr>
              <a:t>Murasaki · Joey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1810512"/>
            <a:ext cx="42976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82705E"/>
                </a:solidFill>
                <a:latin typeface="Avenir Next"/>
                <a:hlinkClick r:id="rId6"/>
              </a:rPr>
              <a:t>joeyj6295@gmail.com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消息到了，难的是下一句。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工作推进、情绪表达和日常闲聊，常常挤在同一个消息列表里。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359152"/>
            <a:ext cx="3575304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15184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700" b="1">
                <a:solidFill>
                  <a:srgbClr val="E2D3C1"/>
                </a:solidFill>
                <a:latin typeface="Avenir Next"/>
                <a:ea typeface="Avenir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01568"/>
            <a:ext cx="309067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40342D"/>
                </a:solidFill>
                <a:latin typeface="PingFang SC"/>
                <a:ea typeface="PingFang SC"/>
              </a:rPr>
              <a:t>先回谁？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160520"/>
            <a:ext cx="30632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82705E"/>
                </a:solidFill>
                <a:latin typeface="PingFang SC"/>
                <a:ea typeface="PingFang SC"/>
              </a:rPr>
              <a:t>有的消息在等交付，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82705E"/>
                </a:solidFill>
                <a:latin typeface="PingFang SC"/>
                <a:ea typeface="PingFang SC"/>
              </a:rPr>
              <a:t>有的只是打个招呼。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5148072"/>
            <a:ext cx="1078992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5202936"/>
            <a:ext cx="9326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优先级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359152"/>
            <a:ext cx="3575304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15184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700" b="1">
                <a:solidFill>
                  <a:srgbClr val="E2D3C1"/>
                </a:solidFill>
                <a:latin typeface="Avenir Next"/>
                <a:ea typeface="Avenir Nex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01568"/>
            <a:ext cx="309067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40342D"/>
                </a:solidFill>
                <a:latin typeface="PingFang SC"/>
                <a:ea typeface="PingFang SC"/>
              </a:rPr>
              <a:t>这句话怎么理解？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160520"/>
            <a:ext cx="30632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82705E"/>
                </a:solidFill>
                <a:latin typeface="PingFang SC"/>
                <a:ea typeface="PingFang SC"/>
              </a:rPr>
              <a:t>正常催办，还是情绪施压？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82705E"/>
                </a:solidFill>
                <a:latin typeface="PingFang SC"/>
                <a:ea typeface="PingFang SC"/>
              </a:rPr>
              <a:t>需要区分任务与语气。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5148072"/>
            <a:ext cx="1078992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5202936"/>
            <a:ext cx="9326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语境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2359152"/>
            <a:ext cx="3575304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615184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700" b="1">
                <a:solidFill>
                  <a:srgbClr val="E2D3C1"/>
                </a:solidFill>
                <a:latin typeface="Avenir Next"/>
                <a:ea typeface="Avenir Nex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401568"/>
            <a:ext cx="309067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40342D"/>
                </a:solidFill>
                <a:latin typeface="PingFang SC"/>
                <a:ea typeface="PingFang SC"/>
              </a:rPr>
              <a:t>怎么回才合适？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4160520"/>
            <a:ext cx="30632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82705E"/>
                </a:solidFill>
                <a:latin typeface="PingFang SC"/>
                <a:ea typeface="PingFang SC"/>
              </a:rPr>
              <a:t>既把事情说清楚，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82705E"/>
                </a:solidFill>
                <a:latin typeface="PingFang SC"/>
                <a:ea typeface="PingFang SC"/>
              </a:rPr>
              <a:t>也保留自己的节奏与边界。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5048" y="5148072"/>
            <a:ext cx="1078992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5202936"/>
            <a:ext cx="9326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表达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71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945D3C"/>
                </a:solidFill>
                <a:latin typeface="PingFang SC"/>
                <a:ea typeface="PingFang SC"/>
              </a:rPr>
              <a:t>把“看见消息”之后的理解与措辞，也交给一个贴身的小助手。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02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先判断，再接话。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同一条需求验收消息：从列表，到解读，再到回复。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322576"/>
            <a:ext cx="411480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6517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276856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40342D"/>
                </a:solidFill>
                <a:latin typeface="PingFang SC"/>
                <a:ea typeface="PingFang SC"/>
              </a:rPr>
              <a:t>扫一眼轻重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990088"/>
            <a:ext cx="3575304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ork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75868"/>
            <a:ext cx="3337560" cy="7224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" y="5376672"/>
            <a:ext cx="351129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会话卡片展示紧急度、情绪与提示。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2276856"/>
            <a:ext cx="246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945D3C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322576"/>
            <a:ext cx="411480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377440"/>
            <a:ext cx="26517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276856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40342D"/>
                </a:solidFill>
                <a:latin typeface="PingFang SC"/>
                <a:ea typeface="PingFang SC"/>
              </a:rPr>
              <a:t>看一眼解读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2990088"/>
            <a:ext cx="3575304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ork_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769495"/>
            <a:ext cx="3337560" cy="535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16552" y="5376672"/>
            <a:ext cx="351129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展开原文、核心解读与应对建议。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276856"/>
            <a:ext cx="246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945D3C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7304" y="2322576"/>
            <a:ext cx="411480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2377440"/>
            <a:ext cx="26517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2276856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40342D"/>
                </a:solidFill>
                <a:latin typeface="PingFang SC"/>
                <a:ea typeface="PingFang SC"/>
              </a:rPr>
              <a:t>选一句回复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7304" y="2990088"/>
            <a:ext cx="3575304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ork_rep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3415798"/>
            <a:ext cx="3337560" cy="12425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83879" y="5376672"/>
            <a:ext cx="351129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多种语气可选，复制后跳转钉钉。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03 / DEMO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催交付，先把预期说清楚。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场景：对方追问需求完成时间和验收安排。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04 / 13</a:t>
            </a:r>
          </a:p>
        </p:txBody>
      </p:sp>
      <p:pic>
        <p:nvPicPr>
          <p:cNvPr id="8" name="Picture 7" descr="work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03120"/>
            <a:ext cx="6519672" cy="1045395"/>
          </a:xfrm>
          <a:prstGeom prst="rect">
            <a:avLst/>
          </a:prstGeom>
        </p:spPr>
      </p:pic>
      <p:pic>
        <p:nvPicPr>
          <p:cNvPr id="9" name="Picture 8" descr="work_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19272"/>
            <a:ext cx="6519672" cy="10453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" y="4645152"/>
            <a:ext cx="6519672" cy="1389888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37176"/>
            <a:ext cx="59984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945D3C"/>
                </a:solidFill>
                <a:latin typeface="PingFang SC"/>
                <a:ea typeface="PingFang SC"/>
              </a:rPr>
              <a:t>生成草稿时，把承诺留给人确认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67528"/>
            <a:ext cx="59801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涉及完成时间、工作进度与验收安排，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应在核实后再发送。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4072" y="2103120"/>
            <a:ext cx="4133087" cy="3922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08392" y="2377440"/>
            <a:ext cx="1591056" cy="329184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2432304"/>
            <a:ext cx="144475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2D6955"/>
                </a:solidFill>
                <a:latin typeface="PingFang SC"/>
                <a:ea typeface="PingFang SC"/>
              </a:rPr>
              <a:t>正常工作推进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935224"/>
            <a:ext cx="35295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40342D"/>
                </a:solidFill>
                <a:latin typeface="PingFang SC"/>
                <a:ea typeface="PingFang SC"/>
              </a:rPr>
              <a:t>这时，鼠鼠提醒你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621024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945D3C"/>
                </a:solidFill>
                <a:latin typeface="PingFang SC"/>
                <a:ea typeface="PingFang SC"/>
              </a:rPr>
              <a:t>识别重点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3931920"/>
            <a:ext cx="35204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需回复 · 含截止 · 工作对接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432511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945D3C"/>
                </a:solidFill>
                <a:latin typeface="PingFang SC"/>
                <a:ea typeface="PingFang SC"/>
              </a:rPr>
              <a:t>理解诉求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4636008"/>
            <a:ext cx="35204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对方需要确定的进度信息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50292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945D3C"/>
                </a:solidFill>
                <a:latin typeface="PingFang SC"/>
                <a:ea typeface="PingFang SC"/>
              </a:rPr>
              <a:t>给出方向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5340096"/>
            <a:ext cx="35204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说明现状，再约定下一次同步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04 / DEMO ·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有压力，也可以有边界。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场景：“我是信任你才交给你，希望你最好别让我失望。”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05 / 13</a:t>
            </a:r>
          </a:p>
        </p:txBody>
      </p:sp>
      <p:pic>
        <p:nvPicPr>
          <p:cNvPr id="8" name="Picture 7" descr="pressur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29968"/>
            <a:ext cx="6537960" cy="1935506"/>
          </a:xfrm>
          <a:prstGeom prst="rect">
            <a:avLst/>
          </a:prstGeom>
        </p:spPr>
      </p:pic>
      <p:pic>
        <p:nvPicPr>
          <p:cNvPr id="9" name="Picture 8" descr="pressure_re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056" y="4133087"/>
            <a:ext cx="4915431" cy="18379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24927" y="2029968"/>
            <a:ext cx="4142232" cy="4050791"/>
          </a:xfrm>
          <a:prstGeom prst="roundRect">
            <a:avLst>
              <a:gd name="adj" fmla="val 12000"/>
            </a:avLst>
          </a:prstGeom>
          <a:solidFill>
            <a:srgbClr val="FFF0EC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90104" y="2313432"/>
            <a:ext cx="1572768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3256" y="2368296"/>
            <a:ext cx="14264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B23E35"/>
                </a:solidFill>
                <a:latin typeface="PingFang SC"/>
                <a:ea typeface="PingFang SC"/>
              </a:rPr>
              <a:t>情绪施压提示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26080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B23E35"/>
                </a:solidFill>
                <a:latin typeface="PingFang SC"/>
                <a:ea typeface="PingFang SC"/>
              </a:rPr>
              <a:t>从自证，回到任务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3685032"/>
            <a:ext cx="352958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40342D"/>
                </a:solidFill>
                <a:latin typeface="PingFang SC"/>
                <a:ea typeface="PingFang SC"/>
              </a:rPr>
              <a:t>提示制造愧疚等话术信号，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40342D"/>
                </a:solidFill>
                <a:latin typeface="PingFang SC"/>
                <a:ea typeface="PingFang SC"/>
              </a:rPr>
              <a:t>给出专业、冷静、有边界的回复。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99248" y="4937760"/>
            <a:ext cx="3557016" cy="0"/>
          </a:xfrm>
          <a:prstGeom prst="line">
            <a:avLst/>
          </a:prstGeom>
          <a:ln w="1270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99248" y="5175504"/>
            <a:ext cx="35570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82705E"/>
                </a:solidFill>
                <a:latin typeface="PingFang SC"/>
                <a:ea typeface="PingFang SC"/>
              </a:rPr>
              <a:t>96% 是该次模型风险分数，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82705E"/>
                </a:solidFill>
                <a:latin typeface="PingFang SC"/>
                <a:ea typeface="PingFang SC"/>
              </a:rPr>
              <a:t>不是准确率，也不等于对人的定性。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05 / DEMO ·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朋友说想你，接住情绪就好。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场景：一句“想你了兄弟”，需要温度，也可以很轻松。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06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57984"/>
            <a:ext cx="4590288" cy="3639312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578608"/>
            <a:ext cx="38953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“想你了兄弟”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547872"/>
            <a:ext cx="1152144" cy="329184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02736"/>
            <a:ext cx="10058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2D6955"/>
                </a:solidFill>
                <a:latin typeface="PingFang SC"/>
                <a:ea typeface="PingFang SC"/>
              </a:rPr>
              <a:t>低紧急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568" y="3547872"/>
            <a:ext cx="1152144" cy="329184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602736"/>
            <a:ext cx="10058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2D6955"/>
                </a:solidFill>
                <a:latin typeface="PingFang SC"/>
                <a:ea typeface="PingFang SC"/>
              </a:rPr>
              <a:t>正面情绪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3547872"/>
            <a:ext cx="1152144" cy="329184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602736"/>
            <a:ext cx="10058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2D6955"/>
                </a:solidFill>
                <a:latin typeface="PingFang SC"/>
                <a:ea typeface="PingFang SC"/>
              </a:rPr>
              <a:t>轻松互动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297680"/>
            <a:ext cx="3867912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40342D"/>
                </a:solidFill>
                <a:latin typeface="PingFang SC"/>
                <a:ea typeface="PingFang SC"/>
              </a:rPr>
              <a:t>幽默一点、温和一点，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40342D"/>
                </a:solidFill>
                <a:latin typeface="PingFang SC"/>
                <a:ea typeface="PingFang SC"/>
              </a:rPr>
              <a:t>或者直接约个时间聊聊。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28523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945D3C"/>
                </a:solidFill>
                <a:latin typeface="PingFang SC"/>
                <a:ea typeface="PingFang SC"/>
              </a:rPr>
              <a:t>让回复保留自己的语气。</a:t>
            </a:r>
          </a:p>
        </p:txBody>
      </p:sp>
      <p:pic>
        <p:nvPicPr>
          <p:cNvPr id="18" name="Picture 17" descr="friend_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2148840"/>
            <a:ext cx="5952744" cy="1179220"/>
          </a:xfrm>
          <a:prstGeom prst="rect">
            <a:avLst/>
          </a:prstGeom>
        </p:spPr>
      </p:pic>
      <p:pic>
        <p:nvPicPr>
          <p:cNvPr id="19" name="Picture 18" descr="friend_re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3785615"/>
            <a:ext cx="5952744" cy="18640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42432" y="592531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945D3C"/>
                </a:solidFill>
                <a:latin typeface="PingFang SC"/>
                <a:ea typeface="PingFang SC"/>
              </a:rPr>
              <a:t>同一个场景，多种表达方式。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06 /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把 AI 放在回消息的这一小步里。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减少重复搬运消息，让判断、解释和回复连在一起。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07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212848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82705E"/>
                </a:solidFill>
                <a:latin typeface="PingFang SC"/>
                <a:ea typeface="PingFang SC"/>
              </a:rPr>
              <a:t>手动借助通用聊天工具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843784"/>
            <a:ext cx="2066543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3044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复制消息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843784"/>
            <a:ext cx="2066543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3044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切换工具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76088" y="2843784"/>
            <a:ext cx="2066543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3044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补充背景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0376" y="2843784"/>
            <a:ext cx="2066543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3044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组织提示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84664" y="2843784"/>
            <a:ext cx="2066543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57816" y="3044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2705E"/>
                </a:solidFill>
                <a:latin typeface="PingFang SC"/>
                <a:ea typeface="PingFang SC"/>
              </a:rPr>
              <a:t>复制回去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931920"/>
            <a:ext cx="51206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945D3C"/>
                </a:solidFill>
                <a:latin typeface="PingFang SC"/>
                <a:ea typeface="PingFang SC"/>
              </a:rPr>
              <a:t>吱一声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" y="4590288"/>
            <a:ext cx="3575304" cy="1261872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800600"/>
            <a:ext cx="312724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45D3C"/>
                </a:solidFill>
                <a:latin typeface="PingFang SC"/>
                <a:ea typeface="PingFang SC"/>
              </a:rPr>
              <a:t>自动获取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321808"/>
            <a:ext cx="31272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官方 CLI 读取会话消息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6824" y="4983480"/>
            <a:ext cx="182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945D3C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7992" y="4590288"/>
            <a:ext cx="3575304" cy="1261872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800600"/>
            <a:ext cx="312724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45D3C"/>
                </a:solidFill>
                <a:latin typeface="PingFang SC"/>
                <a:ea typeface="PingFang SC"/>
              </a:rPr>
              <a:t>辅助判断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5321808"/>
            <a:ext cx="31272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轻重、语气与应对方向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4983480"/>
            <a:ext cx="182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945D3C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48472" y="4590288"/>
            <a:ext cx="3575304" cy="1261872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7072" y="4800600"/>
            <a:ext cx="312724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45D3C"/>
                </a:solidFill>
                <a:latin typeface="PingFang SC"/>
                <a:ea typeface="PingFang SC"/>
              </a:rPr>
              <a:t>用户确认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7072" y="5321808"/>
            <a:ext cx="31272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选回复，去钉钉发送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07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一个小窗，两段 AI。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Python + PySide6 桌面端，将结构化判断与自然语言生成分开。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08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32304"/>
            <a:ext cx="1938528" cy="2313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6974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40342D"/>
                </a:solidFill>
                <a:latin typeface="PingFang SC"/>
                <a:ea typeface="PingFang SC"/>
              </a:rPr>
              <a:t>消息来源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300984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官方 DWS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未读会话与正文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本地快照兜底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432304"/>
            <a:ext cx="1865376" cy="2313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26974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40342D"/>
                </a:solidFill>
                <a:latin typeface="PingFang SC"/>
                <a:ea typeface="PingFang SC"/>
              </a:rPr>
              <a:t>整理消息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300984"/>
            <a:ext cx="14447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统一消息结构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按处理水位过滤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组装分析上下文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58384" y="2221992"/>
            <a:ext cx="3172968" cy="1481328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450592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45D3C"/>
                </a:solidFill>
                <a:latin typeface="PingFang SC"/>
                <a:ea typeface="PingFang SC"/>
              </a:rPr>
              <a:t>① 结构化判断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926080"/>
            <a:ext cx="273405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0342D"/>
                </a:solidFill>
                <a:latin typeface="PingFang SC"/>
                <a:ea typeface="PingFang SC"/>
              </a:rPr>
              <a:t>Jev 云端 / Laya 本地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0342D"/>
                </a:solidFill>
                <a:latin typeface="PingFang SC"/>
                <a:ea typeface="PingFang SC"/>
              </a:rPr>
              <a:t>意图、情绪、轻重、话术信号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58384" y="4078224"/>
            <a:ext cx="3172968" cy="1463040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4315968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D6955"/>
                </a:solidFill>
                <a:latin typeface="PingFang SC"/>
                <a:ea typeface="PingFang SC"/>
              </a:rPr>
              <a:t>② 深度解读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791456"/>
            <a:ext cx="273405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0342D"/>
                </a:solidFill>
                <a:latin typeface="PingFang SC"/>
                <a:ea typeface="PingFang SC"/>
              </a:rPr>
              <a:t>LLM / 模板兜底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0342D"/>
                </a:solidFill>
                <a:latin typeface="PingFang SC"/>
                <a:ea typeface="PingFang SC"/>
              </a:rPr>
              <a:t>解读与多种回复选项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432304"/>
            <a:ext cx="2395728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269748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40342D"/>
                </a:solidFill>
                <a:latin typeface="PingFang SC"/>
                <a:ea typeface="PingFang SC"/>
              </a:rPr>
              <a:t>悬浮小窗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3291840"/>
            <a:ext cx="1856231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优先级卡片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详情异步补齐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复制回复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跳转钉钉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96896" y="3566160"/>
            <a:ext cx="374904" cy="0"/>
          </a:xfrm>
          <a:prstGeom prst="line">
            <a:avLst/>
          </a:prstGeom>
          <a:ln w="21590">
            <a:solidFill>
              <a:srgbClr val="945D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01184" y="2962656"/>
            <a:ext cx="393192" cy="0"/>
          </a:xfrm>
          <a:prstGeom prst="line">
            <a:avLst/>
          </a:prstGeom>
          <a:ln w="21590">
            <a:solidFill>
              <a:srgbClr val="945D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31152" y="3730752"/>
            <a:ext cx="0" cy="292608"/>
          </a:xfrm>
          <a:prstGeom prst="line">
            <a:avLst/>
          </a:prstGeom>
          <a:ln w="21590">
            <a:solidFill>
              <a:srgbClr val="945D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67928" y="2962656"/>
            <a:ext cx="521208" cy="0"/>
          </a:xfrm>
          <a:prstGeom prst="line">
            <a:avLst/>
          </a:prstGeom>
          <a:ln w="21590">
            <a:solidFill>
              <a:srgbClr val="945D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67928" y="4782312"/>
            <a:ext cx="521208" cy="0"/>
          </a:xfrm>
          <a:prstGeom prst="line">
            <a:avLst/>
          </a:prstGeom>
          <a:ln w="21590">
            <a:solidFill>
              <a:srgbClr val="945D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368" y="5166360"/>
            <a:ext cx="4224528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5221224"/>
            <a:ext cx="40782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可选上下文：日程 / 待办（当前由缓存注入）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952744"/>
            <a:ext cx="108173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945D3C"/>
                </a:solidFill>
                <a:latin typeface="PingFang SC"/>
                <a:ea typeface="PingFang SC"/>
              </a:rPr>
              <a:t>引擎接口统一，模型可替换；先完成判定，再逐条补充解释。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08 / PROGRESSIVE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判断先出现，解读随后补齐。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深度生成耗时更长时，用户仍能先看到关键判断和基础建议。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09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103120"/>
            <a:ext cx="2267712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21214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阶段 1 · 已完成判断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2103120"/>
            <a:ext cx="2423160" cy="329184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157984"/>
            <a:ext cx="22768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2D6955"/>
                </a:solidFill>
                <a:latin typeface="PingFang SC"/>
                <a:ea typeface="PingFang SC"/>
              </a:rPr>
              <a:t>阶段 2 · 补充详细解读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2734056"/>
            <a:ext cx="5294376" cy="3026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sync_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09" y="2825496"/>
            <a:ext cx="4226349" cy="281635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18504" y="2734056"/>
            <a:ext cx="5221224" cy="3026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sync_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964" y="2834640"/>
            <a:ext cx="4707447" cy="28163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8096" y="5961888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945D3C"/>
                </a:solidFill>
                <a:latin typeface="PingFang SC"/>
                <a:ea typeface="PingFang SC"/>
              </a:rPr>
              <a:t>紧急度、风险提示、回复基础建议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961888"/>
            <a:ext cx="4983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D6955"/>
                </a:solidFill>
                <a:latin typeface="PingFang SC"/>
                <a:ea typeface="PingFang SC"/>
              </a:rPr>
              <a:t>核心解读、应对建议与更多回复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09 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分析耗时，给出实测分布。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分别统计结构化判断、深度解读与完整分析；单位：秒。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10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93976"/>
            <a:ext cx="3008376" cy="329184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148840"/>
            <a:ext cx="2862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2D6955"/>
                </a:solidFill>
                <a:latin typeface="PingFang SC"/>
                <a:ea typeface="PingFang SC"/>
              </a:rPr>
              <a:t>60 次实测 · 60 成功 · 0 失败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31336" y="2093976"/>
            <a:ext cx="3008376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2148840"/>
            <a:ext cx="2862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Jev + qwen3.7-flash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4304" y="2093976"/>
            <a:ext cx="2624328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7456" y="2148840"/>
            <a:ext cx="24780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PingFang SC"/>
                <a:ea typeface="PingFang SC"/>
              </a:rPr>
              <a:t>并发 1 · macOS arm64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770632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82705E"/>
                </a:solidFill>
                <a:latin typeface="PingFang SC"/>
                <a:ea typeface="PingFang SC"/>
              </a:rPr>
              <a:t>计时阶段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7706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82705E"/>
                </a:solidFill>
                <a:latin typeface="PingFang SC"/>
                <a:ea typeface="PingFang SC"/>
              </a:rPr>
              <a:t>中位数 / P50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706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82705E"/>
                </a:solidFill>
                <a:latin typeface="PingFang SC"/>
                <a:ea typeface="PingFang SC"/>
              </a:rPr>
              <a:t>P90 / 90 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7706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82705E"/>
                </a:solidFill>
                <a:latin typeface="PingFang SC"/>
                <a:ea typeface="PingFang SC"/>
              </a:rPr>
              <a:t>P95 / 95 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73552"/>
            <a:ext cx="10890504" cy="5577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410712"/>
            <a:ext cx="3685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40342D"/>
                </a:solidFill>
                <a:latin typeface="PingFang SC"/>
                <a:ea typeface="PingFang SC"/>
              </a:rPr>
              <a:t>① Jev 结构化判断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383280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40342D"/>
                </a:solidFill>
                <a:latin typeface="Avenir Next"/>
                <a:ea typeface="Avenir Next"/>
              </a:rPr>
              <a:t>0.98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40342D"/>
                </a:solidFill>
                <a:latin typeface="Avenir Next"/>
                <a:ea typeface="Avenir Next"/>
              </a:rPr>
              <a:t>1.29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383280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40342D"/>
                </a:solidFill>
                <a:latin typeface="Avenir Next"/>
                <a:ea typeface="Avenir Next"/>
              </a:rPr>
              <a:t>1.55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04487"/>
            <a:ext cx="10890504" cy="5577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041648"/>
            <a:ext cx="3685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40342D"/>
                </a:solidFill>
                <a:latin typeface="PingFang SC"/>
                <a:ea typeface="PingFang SC"/>
              </a:rPr>
              <a:t>② LLM 深度解读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5736" y="4014215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40342D"/>
                </a:solidFill>
                <a:latin typeface="Avenir Next"/>
                <a:ea typeface="Avenir Next"/>
              </a:rPr>
              <a:t>6.10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014215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40342D"/>
                </a:solidFill>
                <a:latin typeface="Avenir Next"/>
                <a:ea typeface="Avenir Next"/>
              </a:rPr>
              <a:t>8.28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014215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40342D"/>
                </a:solidFill>
                <a:latin typeface="Avenir Next"/>
                <a:ea typeface="Avenir Next"/>
              </a:rPr>
              <a:t>8.72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535424"/>
            <a:ext cx="10890504" cy="5577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672584"/>
            <a:ext cx="3685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945D3C"/>
                </a:solidFill>
                <a:latin typeface="PingFang SC"/>
                <a:ea typeface="PingFang SC"/>
              </a:rPr>
              <a:t>完整分析 ① + 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4645152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945D3C"/>
                </a:solidFill>
                <a:latin typeface="Avenir Next"/>
                <a:ea typeface="Avenir Next"/>
              </a:rPr>
              <a:t>7.30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645152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945D3C"/>
                </a:solidFill>
                <a:latin typeface="Avenir Next"/>
                <a:ea typeface="Avenir Next"/>
              </a:rPr>
              <a:t>9.25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645152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945D3C"/>
                </a:solidFill>
                <a:latin typeface="Avenir Next"/>
                <a:ea typeface="Avenir Next"/>
              </a:rPr>
              <a:t>9.75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34009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45D3C"/>
                </a:solidFill>
                <a:latin typeface="PingFang SC"/>
                <a:ea typeface="PingFang SC"/>
              </a:rPr>
              <a:t>95% 的成功样本，完整分析在约 9.75 s 内完成。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586130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82705E"/>
                </a:solidFill>
                <a:latin typeface="PingFang SC"/>
                <a:ea typeface="PingFang SC"/>
              </a:rPr>
              <a:t>2026-09-27 · 工作催办 / 情绪施压 / 朋友问候各 20 次 · 固定空日程与待办上下文 · 不预热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6153912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82705E"/>
                </a:solidFill>
                <a:latin typeface="PingFang SC"/>
                <a:ea typeface="PingFang SC"/>
              </a:rPr>
              <a:t>含网络往返、解析与实际重试；不含消息拉取、排队和界面绘制。小样本实测，非生产 SLA。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10 /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帮你组织表达，决定权留给你。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把当前能力边界说清楚，用户才知道如何使用这些建议。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11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2249424"/>
            <a:ext cx="5239512" cy="1673352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4727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945D3C"/>
                </a:solidFill>
                <a:latin typeface="PingFang SC"/>
                <a:ea typeface="PingFang SC"/>
              </a:rPr>
              <a:t>发送由你确认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99816"/>
            <a:ext cx="470916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点击复制 → 打开钉钉 → 手动发送。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涉及时间、进度与承诺，先核实再发。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9424"/>
            <a:ext cx="5239512" cy="1673352"/>
          </a:xfrm>
          <a:prstGeom prst="roundRect">
            <a:avLst>
              <a:gd name="adj" fmla="val 12000"/>
            </a:avLst>
          </a:prstGeom>
          <a:solidFill>
            <a:srgbClr val="FF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78024"/>
            <a:ext cx="4727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B23E35"/>
                </a:solidFill>
                <a:latin typeface="PingFang SC"/>
                <a:ea typeface="PingFang SC"/>
              </a:rPr>
              <a:t>解读是一种参考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099816"/>
            <a:ext cx="470916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风险分数不是准确率。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单条消息不足以还原完整关系与动机。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" y="4187952"/>
            <a:ext cx="5239512" cy="1673352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16552"/>
            <a:ext cx="4727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D6955"/>
                </a:solidFill>
                <a:latin typeface="PingFang SC"/>
                <a:ea typeface="PingFang SC"/>
              </a:rPr>
              <a:t>数据路径可选择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038344"/>
            <a:ext cx="470916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Jev 与云端 LLM 会接收消息内容；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Laya 可本地判定，云端解读仍涉及外发。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87952"/>
            <a:ext cx="5239512" cy="1673352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4416552"/>
            <a:ext cx="4727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945D3C"/>
                </a:solidFill>
                <a:latin typeface="PingFang SC"/>
                <a:ea typeface="PingFang SC"/>
              </a:rPr>
              <a:t>本次展示已脱敏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5038344"/>
            <a:ext cx="470916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姓名、昵称、账号与授权信息已抹除。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0342D"/>
                </a:solidFill>
                <a:latin typeface="PingFang SC"/>
                <a:ea typeface="PingFang SC"/>
              </a:rPr>
              <a:t>展示脱敏不等于产品已实现自动脱敏。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945D3C"/>
                </a:solidFill>
                <a:latin typeface="Avenir Next"/>
                <a:ea typeface="Avenir Next"/>
              </a:rPr>
              <a:t>11 /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40342D"/>
                </a:solidFill>
                <a:latin typeface="PingFang SC"/>
                <a:ea typeface="PingFang SC"/>
              </a:rPr>
              <a:t>已经跑起来，下一步让它更可靠。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36192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82705E"/>
                </a:solidFill>
                <a:latin typeface="PingFang SC"/>
                <a:ea typeface="PingFang SC"/>
              </a:rPr>
              <a:t>黑客松阶段完成可演示的桌面闭环，并把待完善项留在明处。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E2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2705E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2705E"/>
                </a:solidFill>
                <a:latin typeface="Avenir Next"/>
                <a:ea typeface="Avenir Next"/>
              </a:rP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58568"/>
            <a:ext cx="3593592" cy="3429000"/>
          </a:xfrm>
          <a:prstGeom prst="roundRect">
            <a:avLst>
              <a:gd name="adj" fmla="val 12000"/>
            </a:avLst>
          </a:prstGeom>
          <a:solidFill>
            <a:srgbClr val="EAF2EA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542032"/>
            <a:ext cx="31181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D6955"/>
                </a:solidFill>
                <a:latin typeface="PingFang SC"/>
                <a:ea typeface="PingFang SC"/>
              </a:rPr>
              <a:t>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337560"/>
            <a:ext cx="311810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桌面悬浮窗与鼠鼠主题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官方 CLI 授权与读取演示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轻重判断、解读与回复选项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复制、跳转与处理水位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macOS Intel 应用打包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258568"/>
            <a:ext cx="3593592" cy="3429000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542032"/>
            <a:ext cx="31181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93620C"/>
                </a:solidFill>
                <a:latin typeface="PingFang SC"/>
                <a:ea typeface="PingFang SC"/>
              </a:rPr>
              <a:t>演示中发现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337560"/>
            <a:ext cx="311810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会话数与未读数口径待校准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日程 / 待办目前通过缓存注入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回复中的事实与承诺需核实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单条消息缺少完整上下文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3" y="2258568"/>
            <a:ext cx="3593592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D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2542032"/>
            <a:ext cx="31181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945D3C"/>
                </a:solidFill>
                <a:latin typeface="PingFang SC"/>
                <a:ea typeface="PingFang SC"/>
              </a:rPr>
              <a:t>接下来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3337560"/>
            <a:ext cx="311810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补充最近多轮对话上下文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接入事件推送与上下文同步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建立人工标注的场景评测集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40342D"/>
                </a:solidFill>
                <a:latin typeface="PingFang SC"/>
                <a:ea typeface="PingFang SC"/>
              </a:rPr>
              <a:t>优化误判提示与个性化语气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5943600"/>
            <a:ext cx="1079906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945D3C"/>
                </a:solidFill>
                <a:latin typeface="PingFang SC"/>
                <a:ea typeface="PingFang SC"/>
              </a:rPr>
              <a:t>工程验证：5 项 UI / 数据回归检查通过；Intel 包已完成启动验证。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2D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827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F2E6D6"/>
                </a:solidFill>
                <a:latin typeface="PingFang SC"/>
                <a:ea typeface="PingFang SC"/>
              </a:rPr>
              <a:t>吱一声  /  黑客松作品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519672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F2E6D6"/>
                </a:solidFill>
                <a:latin typeface="Avenir Next"/>
                <a:ea typeface="Avenir Next"/>
              </a:rPr>
              <a:t>13 / 13</a:t>
            </a:r>
          </a:p>
        </p:txBody>
      </p:sp>
      <p:pic>
        <p:nvPicPr>
          <p:cNvPr id="5" name="Picture 4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676656"/>
            <a:ext cx="1874519" cy="18745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813816"/>
            <a:ext cx="2980944" cy="329184"/>
          </a:xfrm>
          <a:prstGeom prst="roundRect">
            <a:avLst>
              <a:gd name="adj" fmla="val 12000"/>
            </a:avLst>
          </a:prstGeom>
          <a:solidFill>
            <a:srgbClr val="F2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868680"/>
            <a:ext cx="283463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40342D"/>
                </a:solidFill>
                <a:latin typeface="PingFang SC"/>
                <a:ea typeface="PingFang SC"/>
              </a:rPr>
              <a:t>吱一声 · 桌面 AI 回复搭子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995781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PingFang SC"/>
                <a:ea typeface="PingFang SC"/>
              </a:rPr>
              <a:t>回消息，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PingFang SC"/>
                <a:ea typeface="PingFang SC"/>
              </a:rPr>
              <a:t>不必一个人硬想。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106070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F2E6D6"/>
                </a:solidFill>
                <a:latin typeface="PingFang SC"/>
                <a:ea typeface="PingFang SC"/>
              </a:rPr>
              <a:t>先看轻重，再看语气，最后选一句自己的话。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5138928"/>
            <a:ext cx="10533888" cy="0"/>
          </a:xfrm>
          <a:prstGeom prst="line">
            <a:avLst/>
          </a:prstGeom>
          <a:ln w="12700">
            <a:solidFill>
              <a:srgbClr val="827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" y="5422392"/>
            <a:ext cx="99669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</a:rPr>
              <a:t>消息慢慢看，鼠鼠陪你回。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5916168"/>
            <a:ext cx="338328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5943600"/>
            <a:ext cx="1508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venir Next"/>
              </a:rPr>
              <a:t>Murasaki</a:t>
            </a:r>
          </a:p>
        </p:txBody>
      </p:sp>
      <p:pic>
        <p:nvPicPr>
          <p:cNvPr id="14" name="Picture 13" descr="mascot-mirro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916168"/>
            <a:ext cx="338328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28416" y="594360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venir Next"/>
              </a:rPr>
              <a:t>Joey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943600"/>
            <a:ext cx="397763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F2E6D6"/>
                </a:solidFill>
                <a:latin typeface="Avenir Next"/>
                <a:hlinkClick r:id="rId5"/>
              </a:rPr>
              <a:t>joeyj6295@gmail.com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吱一声｜黑客松作品路演</dc:title>
  <dc:subject>桌面 AI 消息理解与回复助手</dc:subject>
  <dc:creator>Murasaki, Joey</dc:creator>
  <cp:keywords>吱一声,黑客松,钉钉,桌面AI,脱敏演示</cp:keywords>
  <dc:description>截图已做像素级脱敏；演示分数不代表准确率。</dc:description>
  <cp:lastModifiedBy>Murasaki, Joey</cp:lastModifiedBy>
  <cp:revision>1</cp:revision>
  <dcterms:created xsi:type="dcterms:W3CDTF">2013-01-27T09:14:16Z</dcterms:created>
  <dcterms:modified xsi:type="dcterms:W3CDTF">2026-09-27T10:55:47Z</dcterms:modified>
  <cp:category/>
</cp:coreProperties>
</file>